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2" r:id="rId2"/>
    <p:sldId id="263" r:id="rId3"/>
    <p:sldId id="266" r:id="rId4"/>
    <p:sldId id="265" r:id="rId5"/>
    <p:sldId id="264" r:id="rId6"/>
    <p:sldId id="258" r:id="rId7"/>
    <p:sldId id="259" r:id="rId8"/>
    <p:sldId id="260" r:id="rId9"/>
    <p:sldId id="261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kWh/day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CA-4CFC-9D46-A1FD1805EDEE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CA-4CFC-9D46-A1FD1805EDEE}"/>
              </c:ext>
            </c:extLst>
          </c:dPt>
          <c:dPt>
            <c:idx val="2"/>
            <c:invertIfNegative val="0"/>
            <c:bubble3D val="0"/>
            <c:spPr>
              <a:solidFill>
                <a:srgbClr val="E845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CA-4CFC-9D46-A1FD1805ED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Load
(Cluster 1)</c:v>
                </c:pt>
                <c:pt idx="1">
                  <c:v>Medium Load
(Cluster 2)</c:v>
                </c:pt>
                <c:pt idx="2">
                  <c:v>High-Risk Peak
(Cluster 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10.8</c:v>
                </c:pt>
                <c:pt idx="2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CA-4CFC-9D46-A1FD1805E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Avg kWh /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 Zone</c:v>
                </c:pt>
              </c:strCache>
            </c:strRef>
          </c:tx>
          <c:spPr>
            <a:ln w="38100" cap="flat">
              <a:solidFill>
                <a:srgbClr val="4A9F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FD4"/>
              </a:solidFill>
              <a:ln w="9525" cap="flat">
                <a:solidFill>
                  <a:srgbClr val="4A9FD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6AM</c:v>
                </c:pt>
                <c:pt idx="1">
                  <c:v>9AM</c:v>
                </c:pt>
                <c:pt idx="2">
                  <c:v>12PM</c:v>
                </c:pt>
                <c:pt idx="3">
                  <c:v>3PM</c:v>
                </c:pt>
                <c:pt idx="4">
                  <c:v>6PM</c:v>
                </c:pt>
                <c:pt idx="5">
                  <c:v>8PM</c:v>
                </c:pt>
                <c:pt idx="6">
                  <c:v>10PM</c:v>
                </c:pt>
                <c:pt idx="7">
                  <c:v>12AM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88</c:v>
                </c:pt>
                <c:pt idx="2">
                  <c:v>95</c:v>
                </c:pt>
                <c:pt idx="3">
                  <c:v>90</c:v>
                </c:pt>
                <c:pt idx="4">
                  <c:v>72</c:v>
                </c:pt>
                <c:pt idx="5">
                  <c:v>30</c:v>
                </c:pt>
                <c:pt idx="6">
                  <c:v>18</c:v>
                </c:pt>
                <c:pt idx="7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6B-4691-98C6-93AA9D1222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Residential (Nazimabad)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6AM</c:v>
                </c:pt>
                <c:pt idx="1">
                  <c:v>9AM</c:v>
                </c:pt>
                <c:pt idx="2">
                  <c:v>12PM</c:v>
                </c:pt>
                <c:pt idx="3">
                  <c:v>3PM</c:v>
                </c:pt>
                <c:pt idx="4">
                  <c:v>6PM</c:v>
                </c:pt>
                <c:pt idx="5">
                  <c:v>8PM</c:v>
                </c:pt>
                <c:pt idx="6">
                  <c:v>10PM</c:v>
                </c:pt>
                <c:pt idx="7">
                  <c:v>12AM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</c:v>
                </c:pt>
                <c:pt idx="1">
                  <c:v>35</c:v>
                </c:pt>
                <c:pt idx="2">
                  <c:v>42</c:v>
                </c:pt>
                <c:pt idx="3">
                  <c:v>38</c:v>
                </c:pt>
                <c:pt idx="4">
                  <c:v>55</c:v>
                </c:pt>
                <c:pt idx="5">
                  <c:v>95</c:v>
                </c:pt>
                <c:pt idx="6">
                  <c:v>80</c:v>
                </c:pt>
                <c:pt idx="7">
                  <c:v>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96B-4691-98C6-93AA9D122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B1E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 Index (normalized)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B7-4CFC-8BD6-85A369C7F823}"/>
              </c:ext>
            </c:extLst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B7-4CFC-8BD6-85A369C7F823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B7-4CFC-8BD6-85A369C7F823}"/>
              </c:ext>
            </c:extLst>
          </c:dPt>
          <c:dPt>
            <c:idx val="3"/>
            <c:invertIfNegative val="0"/>
            <c:bubble3D val="0"/>
            <c:spPr>
              <a:solidFill>
                <a:srgbClr val="E89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B7-4CFC-8BD6-85A369C7F823}"/>
              </c:ext>
            </c:extLst>
          </c:dPt>
          <c:dPt>
            <c:idx val="4"/>
            <c:invertIfNegative val="0"/>
            <c:bubble3D val="0"/>
            <c:spPr>
              <a:solidFill>
                <a:srgbClr val="E845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B7-4CFC-8BD6-85A369C7F8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C5D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≤20°C</c:v>
                </c:pt>
                <c:pt idx="1">
                  <c:v>20–25°C</c:v>
                </c:pt>
                <c:pt idx="2">
                  <c:v>25–30°C</c:v>
                </c:pt>
                <c:pt idx="3">
                  <c:v>30–35°C</c:v>
                </c:pt>
                <c:pt idx="4">
                  <c:v>35°C+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58</c:v>
                </c:pt>
                <c:pt idx="2">
                  <c:v>72</c:v>
                </c:pt>
                <c:pt idx="3">
                  <c:v>88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B7-4CFC-8BD6-85A369C7F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Load Index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B1E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32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0755"/>
            <a:ext cx="9144000" cy="54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4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2063"/>
            <a:ext cx="9465580" cy="52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48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" y="0"/>
            <a:ext cx="9143999" cy="51844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0520" y="2369165"/>
            <a:ext cx="49682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u="sng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Reference: Khan, Z. A., et al. (2020). "Electricity Theft Detection Using Supervised Learning Techniques on Smart Meter Data". Sustainability, 12(19), 8023.</a:t>
            </a:r>
            <a:endParaRPr lang="en-US" sz="1400" i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85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3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1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BFC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Warehouse &amp; ETL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DATA SILOS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560320" cy="64008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72768"/>
            <a:ext cx="2560320" cy="64008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LDC Supply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572768"/>
            <a:ext cx="2560320" cy="64008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572768"/>
            <a:ext cx="256032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Records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2560320" cy="64008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572768"/>
            <a:ext cx="25603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 T L  P I P E L I N E  —  Extract · Transform · 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8138160" cy="1005840"/>
          </a:xfrm>
          <a:prstGeom prst="rect">
            <a:avLst/>
          </a:prstGeom>
          <a:solidFill>
            <a:srgbClr val="1E408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743200"/>
            <a:ext cx="8138160" cy="73152"/>
          </a:xfrm>
          <a:prstGeom prst="rect">
            <a:avLst/>
          </a:prstGeom>
          <a:solidFill>
            <a:srgbClr val="00BFC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WAREHOUSE  (disco_analysis)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218688"/>
            <a:ext cx="2194560" cy="411480"/>
          </a:xfrm>
          <a:prstGeom prst="rect">
            <a:avLst/>
          </a:prstGeom>
          <a:solidFill>
            <a:srgbClr val="0B1E3C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3246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3218688"/>
            <a:ext cx="2194560" cy="411480"/>
          </a:xfrm>
          <a:prstGeom prst="rect">
            <a:avLst/>
          </a:prstGeom>
          <a:solidFill>
            <a:srgbClr val="0B1E3C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3246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3218688"/>
            <a:ext cx="2194560" cy="411480"/>
          </a:xfrm>
          <a:prstGeom prst="rect">
            <a:avLst/>
          </a:prstGeom>
          <a:solidFill>
            <a:srgbClr val="0B1E3C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192" y="3246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97680" y="3813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0" y="4114800"/>
            <a:ext cx="4572000" cy="685800"/>
          </a:xfrm>
          <a:prstGeom prst="rect">
            <a:avLst/>
          </a:prstGeom>
          <a:solidFill>
            <a:srgbClr val="00BFCF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41696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  →  SQL · Weka · Power BI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3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Approach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64008" cy="96012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698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0789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426464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 — model autonomously discovers load behavioral groups from raw consumption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03120"/>
            <a:ext cx="64008" cy="96012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67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762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(k=3)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523744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centroid-convergence algorithm segments households into Low / Medium / High-Risk profiles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200400"/>
            <a:ext cx="64008" cy="96012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644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2735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621024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 hour, area_group, tariff_type, weather (temp, humidity), day-of-week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932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OUTPUT  —  Consumption Profiles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846320" y="1261872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846320" y="4041648"/>
            <a:ext cx="3931920" cy="685800"/>
          </a:xfrm>
          <a:prstGeom prst="rect">
            <a:avLst/>
          </a:prstGeom>
          <a:solidFill>
            <a:srgbClr val="EBF0FA"/>
          </a:solidFill>
          <a:ln/>
        </p:spPr>
      </p:sp>
      <p:sp>
        <p:nvSpPr>
          <p:cNvPr id="25" name="TextBox 24"/>
          <p:cNvSpPr txBox="1"/>
          <p:nvPr/>
        </p:nvSpPr>
        <p:spPr>
          <a:xfrm>
            <a:off x="502920" y="4297681"/>
            <a:ext cx="7970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en-US" sz="16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Sarmas</a:t>
            </a:r>
            <a:r>
              <a:rPr lang="en-US" sz="16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16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Fragkiadaki</a:t>
            </a:r>
            <a:r>
              <a:rPr lang="en-US" sz="16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US" sz="1600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Marinakis</a:t>
            </a:r>
            <a:r>
              <a:rPr lang="en-US" sz="1600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 (2024). "Explainable AI-Based Ensemble Clustering for Load Profiling and Demand Response". Energies, 17(22), 5559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&amp; Grid Stress Patterns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514600" cy="82296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07008"/>
            <a:ext cx="25146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2984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16733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spike when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 30°C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07008"/>
            <a:ext cx="2514600" cy="82296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207008"/>
            <a:ext cx="25146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12984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47288" y="16733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peak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(Nazimabad zone)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207008"/>
            <a:ext cx="2514600" cy="822960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207008"/>
            <a:ext cx="25146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2984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81928" y="16733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zone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176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LOAD — Commercial vs Residential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2487168"/>
          <a:ext cx="4206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4800600" y="2176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TEMPERATURE-INDUCED LOAD SURGE</a:t>
            </a:r>
            <a:endParaRPr lang="en-US" sz="9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4754880" y="2487168"/>
          <a:ext cx="4160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411480" y="4791456"/>
            <a:ext cx="8503920" cy="292608"/>
          </a:xfrm>
          <a:prstGeom prst="rect">
            <a:avLst/>
          </a:prstGeom>
          <a:solidFill>
            <a:srgbClr val="2C1A0A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Overlapping peaks (8 PM Commercial + Residential) cause Phase Imbalance &amp; PMT Overloads — highest grid stress window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BUSINESS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Solutions for DISCOs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229600" cy="102412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61872"/>
            <a:ext cx="64008" cy="1024128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426464"/>
            <a:ext cx="1325880" cy="274320"/>
          </a:xfrm>
          <a:prstGeom prst="rect">
            <a:avLst/>
          </a:prstGeom>
          <a:solidFill>
            <a:srgbClr val="4A9FD4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42048" y="143560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" y="135331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Load Balancing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" y="171907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Transformer-level scheduling instead of city-wide outages.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high-risk clusters before peak onset.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8229600" cy="102412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432304"/>
            <a:ext cx="64008" cy="10241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2596896"/>
            <a:ext cx="1325880" cy="274320"/>
          </a:xfrm>
          <a:prstGeom prst="rect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242048" y="2606040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13232" y="252374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3232" y="288950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anomaly detection flags billing-consumption mismatches.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targeted physical inspections — not random audits.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8229600" cy="1024128"/>
          </a:xfrm>
          <a:prstGeom prst="rect">
            <a:avLst/>
          </a:prstGeom>
          <a:solidFill>
            <a:srgbClr val="1A3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602736"/>
            <a:ext cx="64008" cy="10241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3767328"/>
            <a:ext cx="1325880" cy="274320"/>
          </a:xfrm>
          <a:prstGeom prst="rect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242048" y="3776472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3232" y="369417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Integration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" y="405993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(ToU) tariff framework based on cluster profiles.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+ AMI integration roadmap for real-time grid visibility.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188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From reactive crisis management  →  Proactive, data-driven grid governance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4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1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3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344</Words>
  <Application>Microsoft Office PowerPoint</Application>
  <PresentationFormat>On-screen Show (16:9)</PresentationFormat>
  <Paragraphs>66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Load Pattern Analysis &amp; Revenue Protection for DISCOs</dc:title>
  <dc:subject>PptxGenJS Presentation</dc:subject>
  <dc:creator>Abdullah</dc:creator>
  <cp:lastModifiedBy>Abdullah shah</cp:lastModifiedBy>
  <cp:revision>14</cp:revision>
  <dcterms:created xsi:type="dcterms:W3CDTF">2026-06-06T06:56:54Z</dcterms:created>
  <dcterms:modified xsi:type="dcterms:W3CDTF">2026-06-06T08:22:55Z</dcterms:modified>
</cp:coreProperties>
</file>